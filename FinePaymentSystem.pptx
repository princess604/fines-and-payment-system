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</a:rPr>
              <a:t>Library Management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3152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 &amp; Payment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3716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632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Database Design · Table Architecture · Implementation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Fines Table  ·  Payments Table</a:t>
            </a:r>
            <a:endParaRPr lang="en-US" sz="1200" dirty="0"/>
          </a:p>
        </p:txBody>
      </p:sp>
      <p:sp>
        <p:nvSpPr>
          <p:cNvPr id="10" name="Text Box 9"/>
          <p:cNvSpPr txBox="1"/>
          <p:nvPr/>
        </p:nvSpPr>
        <p:spPr>
          <a:xfrm>
            <a:off x="5598795" y="2738755"/>
            <a:ext cx="2364740" cy="92202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/>
              <a:t>presented by AKANKUNDA PRINCESS 2025/BCS/024/PS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Fine &amp; Payment System — What &amp; Why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246888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Library books returned late need a financial accountability system. Without it, borrowers have no incentive to return materials on 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Our Solution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46888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Two dedicated tables — Fines and Payments — that track every overdue charge and every payment made, with full audit history.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43000"/>
            <a:ext cx="27432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Integration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246888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</a:rPr>
              <a:t>These tables connect to the broader Library System: Members, Loans, and Staff tables — forming a complete accountability chain.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THE FINES TABLE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Structure, Columns &amp; Their Purpose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274320" y="1097280"/>
          <a:ext cx="8595360" cy="374904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4663440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Column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fine_id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AUTO_INCREMENT PK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identifier for each fine record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loan_id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NOT NULL (FK)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Links the fine to the overdue loan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member_id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NOT NULL (FK)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Identifies which member owes the fine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fine_amount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DECIMAL(8,2)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Exact monetary value of the fine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days_overdue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NOT NULL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Number of days the item was overdue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issued_date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 NOT NULL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When the fine was officially issued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ENUM (Pending/Paid/Waived)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 state of the fine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DESIGN 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We Designed the Fines Table This Way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91440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🔢  DECIMAL(8,2) for fine_amount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Ensures precise monetary storage with exactly 2 decimal places — critical for financial accuracy. Never use FLOAT for money.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91440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0700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📋  ENUM for 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Restricting status to 'Pending', 'Paid', or 'Waived' prevents invalid data entry and makes querying by status fast and reliable.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63240"/>
            <a:ext cx="91440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729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🔗  Dual Foreign Keys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Both loan_id and member_id are stored to allow querying fines either by loan history or directly by member — optimizing common access patterns.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91440" cy="1737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729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📅  days_overdue as separate column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53872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Storing this avoids recalculating it at query time and creates a permanent record of how overdue the item was at the time of fining.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THE PAYMENTS TABLE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Structure, Columns &amp; Their Purpose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274320" y="1097280"/>
          <a:ext cx="8595360" cy="374904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4480560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Column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Type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AUTO_INCREMENT PK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Unique identifier for each payment transaction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fine_id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NOT NULL (FK)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Links payment to the specific fine being cleared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member_id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NOT NULL (FK)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Identifies the member making the payment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amount_paid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DECIMAL(8,2)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Actual amount paid (may be partial)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payment_date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DATETIME NOT NULL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Exact timestamp of when payment was received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payment_method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ENUM (Cash/MobileMoney/Card)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the payment was made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received_by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 (FK → Staff)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Which staff member processed the payment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DESIGN 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Why We Designed the Payments Table This Way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91440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⏱️  DATETIME for payment_date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Unlike DATE, DATETIME records the precise time of payment — essential for shift reconciliation and resolving payment disputes.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91440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0700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💳  ENUM for payment_method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Supports Cash, MobileMoney, and Card — reflecting real-world Ugandan payment options and enabling method-based financial reporting.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63240"/>
            <a:ext cx="91440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729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👤  received_by (Staff FK)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Ensures accountability by tracking which staff member processed each payment — critical for auditing and anti-fraud measures.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91440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7296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💰  Separate table from Fines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538728"/>
            <a:ext cx="384048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 fine and its payment are separate events. Keeping them in separate tables allows partial payments, multiple payments, and a clean audit trail.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TABLE RELATIONSHIPS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 Fines &amp; Payments Connect to the Wider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Members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192024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4320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Loans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965960"/>
            <a:ext cx="1920240" cy="594360"/>
          </a:xfrm>
          <a:prstGeom prst="rect">
            <a:avLst/>
          </a:prstGeom>
          <a:solidFill>
            <a:srgbClr val="00A896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96596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965960"/>
            <a:ext cx="1920240" cy="594360"/>
          </a:xfrm>
          <a:prstGeom prst="rect">
            <a:avLst/>
          </a:prstGeom>
          <a:solidFill>
            <a:srgbClr val="1A6B5A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96596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Payments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520440"/>
            <a:ext cx="1920240" cy="594360"/>
          </a:xfrm>
          <a:prstGeom prst="rect">
            <a:avLst/>
          </a:prstGeom>
          <a:solidFill>
            <a:srgbClr val="1A3A5C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52044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Staff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94560" y="1490472"/>
            <a:ext cx="10058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044952"/>
            <a:ext cx="10058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267712"/>
            <a:ext cx="10058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490472"/>
            <a:ext cx="0" cy="777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194560" y="2267712"/>
            <a:ext cx="10058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086600" y="2560320"/>
            <a:ext cx="0" cy="9601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240280" y="131673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A896"/>
                </a:solidFill>
              </a:rPr>
              <a:t>member_id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40280" y="287121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A896"/>
                </a:solidFill>
              </a:rPr>
              <a:t>loan_id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66360" y="209397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A896"/>
                </a:solidFill>
              </a:rPr>
              <a:t>fine_id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80760" y="1847088"/>
            <a:ext cx="1645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member_id (dashed)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75120" y="3337560"/>
            <a:ext cx="13716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</a:rPr>
              <a:t>received_by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896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We Built &amp; Implemented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6128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5214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Integrity via Foreign Keys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5603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Fines must reference a valid Loan and Member. Payments must reference a valid Fine, Member, and Staff. Orphaned records are impossible.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9728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6128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4448" y="115214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Fine Status Lifecycle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64408" y="1554480"/>
            <a:ext cx="25603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Implemented an ENUM status field (Pending → Paid/Waived) that controls the workflow of every fine from creation to resolution.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1097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09728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16128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28816" y="115214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Multi-Method Payment Support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08776" y="1554480"/>
            <a:ext cx="25603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The ENUM payment_method supports Cash, MobileMoney, and Card — matching modern Ugandan library payment realities.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1752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3081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07238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Staff Accountability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474720"/>
            <a:ext cx="25603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Every payment is tied to the staff member who received it via received_by FK, enabling full financial audit trails.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72968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301752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081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84448" y="307238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Precise Financial Records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64408" y="3474720"/>
            <a:ext cx="25603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DECIMAL(8,2) used for all monetary columns to avoid floating-point errors when calculating fines and totals.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17336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301752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3081528"/>
            <a:ext cx="365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28816" y="3072384"/>
            <a:ext cx="2286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Timestamp Precision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08776" y="3474720"/>
            <a:ext cx="256032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DATETIME on payment_date provides exact records down to the second — unlike DATE — supporting shift-end reconciliation.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4141</Words>
  <Application>WPS Presentation</Application>
  <PresentationFormat>On-screen Show (16:9)</PresentationFormat>
  <Paragraphs>241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Fine &amp; Payment System</dc:title>
  <dc:creator>PptxGenJS</dc:creator>
  <dc:subject>PptxGenJS Presentation</dc:subject>
  <cp:lastModifiedBy>WPS_1777998704</cp:lastModifiedBy>
  <cp:revision>4</cp:revision>
  <dcterms:created xsi:type="dcterms:W3CDTF">2026-05-05T15:06:00Z</dcterms:created>
  <dcterms:modified xsi:type="dcterms:W3CDTF">2026-05-06T15:49:04Z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0437845D626243F090E8735DCBF47695_13</vt:lpwstr>
  </property>
</Properties>
</file>