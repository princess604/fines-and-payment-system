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457200"/>
            <a:ext cx="3200400" cy="3200400"/>
          </a:xfrm>
          <a:prstGeom prst="ellipse">
            <a:avLst/>
          </a:prstGeom>
          <a:solidFill>
            <a:srgbClr val="00A896">
              <a:alpha val="15000"/>
            </a:srgbClr>
          </a:solidFill>
          <a:ln w="12700">
            <a:solidFill>
              <a:srgbClr val="00A896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2926080"/>
            <a:ext cx="1828800" cy="1828800"/>
          </a:xfrm>
          <a:prstGeom prst="ellipse">
            <a:avLst/>
          </a:prstGeom>
          <a:solidFill>
            <a:srgbClr val="02C39A">
              <a:alpha val="10000"/>
            </a:srgbClr>
          </a:solidFill>
          <a:ln w="12700">
            <a:solidFill>
              <a:srgbClr val="02C39A">
                <a:alpha val="1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0080"/>
            <a:ext cx="77724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0A896"/>
                </a:solidFill>
              </a:rPr>
              <a:t>Library Management System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97280"/>
            <a:ext cx="731520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Fine &amp; Payment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System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1371600" cy="45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63240"/>
            <a:ext cx="7315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Database Design · Table Architecture · Implementation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7315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Fines Table  ·  Payments Table</a:t>
            </a:r>
            <a:endParaRPr lang="en-US" sz="1200" dirty="0"/>
          </a:p>
        </p:txBody>
      </p:sp>
      <p:sp>
        <p:nvSpPr>
          <p:cNvPr id="10" name="Text Box 9"/>
          <p:cNvSpPr txBox="1"/>
          <p:nvPr/>
        </p:nvSpPr>
        <p:spPr>
          <a:xfrm>
            <a:off x="5598795" y="2738755"/>
            <a:ext cx="2364740" cy="922020"/>
          </a:xfrm>
          <a:prstGeom prst="rect">
            <a:avLst/>
          </a:prstGeom>
        </p:spPr>
        <p:style>
          <a:lnRef idx="2">
            <a:schemeClr val="accent1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>
            <a:spAutoFit/>
          </a:bodyPr>
          <a:p>
            <a:r>
              <a:rPr lang="en-US"/>
              <a:t>presented by AKANKUNDA PRINCESS 2025/BCS/024/PS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A896"/>
                </a:solidFill>
              </a:rPr>
              <a:t>PROJECT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11480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Fine &amp; Payment System — What &amp; Why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43000"/>
            <a:ext cx="2743200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280160"/>
            <a:ext cx="2743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📚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1920240"/>
            <a:ext cx="2468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The Problem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2468880" cy="21031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</a:rPr>
              <a:t>Library books returned late need a financial accountability system. Without it, borrowers have no incentive to return materials on time.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14300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143000"/>
            <a:ext cx="2743200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280160"/>
            <a:ext cx="2743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383280" y="1920240"/>
            <a:ext cx="2468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Our Solution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2331720"/>
            <a:ext cx="2468880" cy="21031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</a:rPr>
              <a:t>Two dedicated tables — Fines and Payments — that track every overdue charge and every payment made, with full audit history.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14300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143000"/>
            <a:ext cx="2743200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280160"/>
            <a:ext cx="2743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355080" y="1920240"/>
            <a:ext cx="2468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Integration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2331720"/>
            <a:ext cx="2468880" cy="21031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</a:rPr>
              <a:t>These tables connect to the broader Library System: Members, Loans, and Staff tables — forming a complete accountability chain.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A896"/>
                </a:solidFill>
              </a:rPr>
              <a:t>THE FINES TABLE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38912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Structure, Columns &amp; Their Purpose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274320" y="1097280"/>
          <a:ext cx="8595360" cy="374904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4663440"/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Column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Data Type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Purpose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fine_id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INT AUTO_INCREMENT PK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Unique identifier for each fine record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loan_id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INT NOT NULL (FK)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Links the fine to the overdue loan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member_id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INT NOT NULL (FK)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Identifies which member owes the fine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fine_amount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DECIMAL(8,2)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Exact monetary value of the fine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days_overdue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INT NOT NULL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Number of days the item was overdue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issued_date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DATE NOT NULL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When the fine was officially issued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status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ENUM (Pending/Paid/Waived)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Current state of the fine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A896"/>
                </a:solidFill>
              </a:rPr>
              <a:t>DESIGN RATIONALE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38912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Why We Designed the Fines Table This Way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97280"/>
            <a:ext cx="91440" cy="17373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07008"/>
            <a:ext cx="38404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🔢  DECIMAL(8,2) for fine_amount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572768"/>
            <a:ext cx="384048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Ensures precise monetary storage with exactly 2 decimal places — critical for financial accuracy. Never use FLOAT for money.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91440" cy="17373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207008"/>
            <a:ext cx="38404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📋  ENUM for status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84048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Restricting status to 'Pending', 'Paid', or 'Waived' prevents invalid data entry and makes querying by status fast and reliable.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8600" y="30632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3063240"/>
            <a:ext cx="91440" cy="17373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172968"/>
            <a:ext cx="38404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🔗  Dual Foreign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3538728"/>
            <a:ext cx="384048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Both loan_id and member_id are stored to allow querying fines either by loan history or directly by member — optimizing common access patterns.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30632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3063240"/>
            <a:ext cx="91440" cy="17373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3172968"/>
            <a:ext cx="38404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📅  days_overdue as separate column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538728"/>
            <a:ext cx="384048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Storing this avoids recalculating it at query time and creates a permanent record of how overdue the item was at the time of fining.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A896"/>
                </a:solidFill>
              </a:rPr>
              <a:t>THE PAYMENTS TABLE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38912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Structure, Columns &amp; Their Purpose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274320" y="1097280"/>
          <a:ext cx="8595360" cy="374904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  <a:gridCol w="4480560"/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Column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Data Type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Purpose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payment_id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INT AUTO_INCREMENT PK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Unique identifier for each payment transaction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fine_id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INT NOT NULL (FK)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Links payment to the specific fine being cleared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member_id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INT NOT NULL (FK)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Identifies the member making the payment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amount_paid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DECIMAL(8,2)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Actual amount paid (may be partial)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payment_date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DATETIME NOT NULL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Exact timestamp of when payment was received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payment_method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ENUM (Cash/MobileMoney/Card)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How the payment was made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received_by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INT (FK → Staff)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Which staff member processed the payment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A896"/>
                </a:solidFill>
              </a:rPr>
              <a:t>DESIGN RATIONALE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38912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Why We Designed the Payments Table This Way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97280"/>
            <a:ext cx="91440" cy="17373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07008"/>
            <a:ext cx="38404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⏱️  DATETIME for payment_date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572768"/>
            <a:ext cx="384048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Unlike DATE, DATETIME records the precise time of payment — essential for shift reconciliation and resolving payment disputes.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91440" cy="17373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207008"/>
            <a:ext cx="38404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💳  ENUM for payment_method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84048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Supports Cash, MobileMoney, and Card — reflecting real-world Ugandan payment options and enabling method-based financial reporting.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28600" y="30632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3063240"/>
            <a:ext cx="91440" cy="17373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172968"/>
            <a:ext cx="38404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👤  received_by (Staff FK)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3538728"/>
            <a:ext cx="384048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Ensures accountability by tracking which staff member processed each payment — critical for auditing and anti-fraud measures.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30632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3063240"/>
            <a:ext cx="91440" cy="17373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3172968"/>
            <a:ext cx="384048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💰  Separate table from Fines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538728"/>
            <a:ext cx="384048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A fine and its payment are separate events. Keeping them in separate tables allows partial payments, multiple payments, and a clean audit trail.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A896"/>
                </a:solidFill>
              </a:rPr>
              <a:t>TABLE RELATIONSHIPS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38912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How Fines &amp; Payments Connect to the Wider System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1920240" cy="594360"/>
          </a:xfrm>
          <a:prstGeom prst="rect">
            <a:avLst/>
          </a:prstGeom>
          <a:solidFill>
            <a:srgbClr val="1A3A5C"/>
          </a:solidFill>
          <a:ln w="19050">
            <a:solidFill>
              <a:srgbClr val="00A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188720"/>
            <a:ext cx="19202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Members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2743200"/>
            <a:ext cx="1920240" cy="594360"/>
          </a:xfrm>
          <a:prstGeom prst="rect">
            <a:avLst/>
          </a:prstGeom>
          <a:solidFill>
            <a:srgbClr val="1A3A5C"/>
          </a:solidFill>
          <a:ln w="19050">
            <a:solidFill>
              <a:srgbClr val="00A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2743200"/>
            <a:ext cx="19202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Loans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0" y="1965960"/>
            <a:ext cx="1920240" cy="594360"/>
          </a:xfrm>
          <a:prstGeom prst="rect">
            <a:avLst/>
          </a:prstGeom>
          <a:solidFill>
            <a:srgbClr val="00A896"/>
          </a:solidFill>
          <a:ln w="19050">
            <a:solidFill>
              <a:srgbClr val="00A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1965960"/>
            <a:ext cx="19202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Fines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1965960"/>
            <a:ext cx="1920240" cy="594360"/>
          </a:xfrm>
          <a:prstGeom prst="rect">
            <a:avLst/>
          </a:prstGeom>
          <a:solidFill>
            <a:srgbClr val="1A6B5A"/>
          </a:solidFill>
          <a:ln w="19050">
            <a:solidFill>
              <a:srgbClr val="00A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1965960"/>
            <a:ext cx="19202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Payments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3520440"/>
            <a:ext cx="1920240" cy="594360"/>
          </a:xfrm>
          <a:prstGeom prst="rect">
            <a:avLst/>
          </a:prstGeom>
          <a:solidFill>
            <a:srgbClr val="1A3A5C"/>
          </a:solidFill>
          <a:ln w="19050">
            <a:solidFill>
              <a:srgbClr val="00A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3520440"/>
            <a:ext cx="19202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Staff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194560" y="1490472"/>
            <a:ext cx="1005840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4560" y="3044952"/>
            <a:ext cx="1005840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0" y="2267712"/>
            <a:ext cx="1005840" cy="0"/>
          </a:xfrm>
          <a:prstGeom prst="line">
            <a:avLst/>
          </a:prstGeom>
          <a:noFill/>
          <a:ln w="19050">
            <a:solidFill>
              <a:srgbClr val="00A8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4560" y="1490472"/>
            <a:ext cx="0" cy="77724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194560" y="2267712"/>
            <a:ext cx="10058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086600" y="2560320"/>
            <a:ext cx="0" cy="96012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2240280" y="1316736"/>
            <a:ext cx="914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0A896"/>
                </a:solidFill>
              </a:rPr>
              <a:t>member_id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240280" y="2871216"/>
            <a:ext cx="914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0A896"/>
                </a:solidFill>
              </a:rPr>
              <a:t>loan_id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166360" y="2093976"/>
            <a:ext cx="9144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00A896"/>
                </a:solidFill>
              </a:rPr>
              <a:t>fine_id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080760" y="1847088"/>
            <a:ext cx="16459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</a:rPr>
              <a:t>member_id (dashed)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675120" y="3337560"/>
            <a:ext cx="1371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94A3B8"/>
                </a:solidFill>
              </a:rPr>
              <a:t>received_by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A896"/>
                </a:solidFill>
              </a:rPr>
              <a:t>IMPLEMENTATION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438912"/>
            <a:ext cx="8229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What We Built &amp; Implemented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97280"/>
            <a:ext cx="27432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1161288"/>
            <a:ext cx="3657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152144"/>
            <a:ext cx="22860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Data Integrity via Foreign Keys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040" y="1554480"/>
            <a:ext cx="256032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Fines must reference a valid Loan and Member. Payments must reference a valid Fine, Member, and Staff. Orphaned records are impossible.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72968" y="109728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72968" y="1097280"/>
            <a:ext cx="27432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161288"/>
            <a:ext cx="3657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84448" y="1152144"/>
            <a:ext cx="22860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Fine Status Lifecycle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64408" y="1554480"/>
            <a:ext cx="256032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Implemented an ENUM status field (Pending → Paid/Waived) that controls the workflow of every fine from creation to resolution.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17336" y="109728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17336" y="1097280"/>
            <a:ext cx="27432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90488" y="1161288"/>
            <a:ext cx="3657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28816" y="1152144"/>
            <a:ext cx="22860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Multi-Method Payment Support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08776" y="1554480"/>
            <a:ext cx="256032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The ENUM payment_method supports Cash, MobileMoney, and Card — matching modern Ugandan library payment realities.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301752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28600" y="3017520"/>
            <a:ext cx="27432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1752" y="3081528"/>
            <a:ext cx="3657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3072384"/>
            <a:ext cx="22860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Staff Accountability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20040" y="3474720"/>
            <a:ext cx="256032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Every payment is tied to the staff member who received it via received_by FK, enabling full financial audit trails.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172968" y="301752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72968" y="3017520"/>
            <a:ext cx="27432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46120" y="3081528"/>
            <a:ext cx="3657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05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584448" y="3072384"/>
            <a:ext cx="22860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Precise Financial Records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264408" y="3474720"/>
            <a:ext cx="256032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DECIMAL(8,2) used for all monetary columns to avoid floating-point errors when calculating fines and totals.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17336" y="301752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17336" y="3017520"/>
            <a:ext cx="27432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0488" y="3081528"/>
            <a:ext cx="36576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06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28816" y="3072384"/>
            <a:ext cx="22860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Timestamp Precision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08776" y="3474720"/>
            <a:ext cx="2560320" cy="1143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</a:rPr>
              <a:t>DATETIME on payment_date provides exact records down to the second — unlike DATE — supporting shift-end reconciliation.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00A896">
              <a:alpha val="12000"/>
            </a:srgbClr>
          </a:solidFill>
          <a:ln w="12700">
            <a:solidFill>
              <a:srgbClr val="00A896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2286000"/>
            <a:ext cx="3657600" cy="3657600"/>
          </a:xfrm>
          <a:prstGeom prst="ellipse">
            <a:avLst/>
          </a:prstGeom>
          <a:solidFill>
            <a:srgbClr val="02C39A">
              <a:alpha val="10000"/>
            </a:srgbClr>
          </a:solidFill>
          <a:ln w="12700">
            <a:solidFill>
              <a:srgbClr val="02C39A">
                <a:alpha val="1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00A896"/>
                </a:solidFill>
              </a:rPr>
              <a:t>SUMMARY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Key Takeaways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914400" y="1508760"/>
            <a:ext cx="7315200" cy="658368"/>
          </a:xfrm>
          <a:prstGeom prst="rect">
            <a:avLst/>
          </a:prstGeom>
          <a:solidFill>
            <a:srgbClr val="112233">
              <a:alpha val="80000"/>
            </a:srgbClr>
          </a:solidFill>
          <a:ln w="9525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508760"/>
            <a:ext cx="45720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08760" y="1554480"/>
            <a:ext cx="14630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Two tables: 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71800" y="1554480"/>
            <a:ext cx="51206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</a:rPr>
              <a:t>Fines and Payments are separate to cleanly model two distinct real-world events.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14400" y="2313432"/>
            <a:ext cx="7315200" cy="658368"/>
          </a:xfrm>
          <a:prstGeom prst="rect">
            <a:avLst/>
          </a:prstGeom>
          <a:solidFill>
            <a:srgbClr val="112233">
              <a:alpha val="80000"/>
            </a:srgbClr>
          </a:solidFill>
          <a:ln w="9525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313432"/>
            <a:ext cx="45720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359152"/>
            <a:ext cx="14630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Referential integrity: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71800" y="2359152"/>
            <a:ext cx="51206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</a:rPr>
              <a:t>Foreign keys ensure every fine traces to a loan &amp; member, every payment traces to a fine &amp; staff.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" y="3118104"/>
            <a:ext cx="7315200" cy="658368"/>
          </a:xfrm>
          <a:prstGeom prst="rect">
            <a:avLst/>
          </a:prstGeom>
          <a:solidFill>
            <a:srgbClr val="112233">
              <a:alpha val="80000"/>
            </a:srgbClr>
          </a:solidFill>
          <a:ln w="9525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3118104"/>
            <a:ext cx="45720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💵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08760" y="3163824"/>
            <a:ext cx="14630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Financial precision: 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71800" y="3163824"/>
            <a:ext cx="51206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</a:rPr>
              <a:t>DECIMAL(8,2) and DATETIME chosen deliberately for accurate monetary and temporal data.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14400" y="3922776"/>
            <a:ext cx="7315200" cy="658368"/>
          </a:xfrm>
          <a:prstGeom prst="rect">
            <a:avLst/>
          </a:prstGeom>
          <a:solidFill>
            <a:srgbClr val="112233">
              <a:alpha val="80000"/>
            </a:srgbClr>
          </a:solidFill>
          <a:ln w="9525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922776"/>
            <a:ext cx="45720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08760" y="3968496"/>
            <a:ext cx="14630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</a:rPr>
              <a:t>Status tracking: 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71800" y="3968496"/>
            <a:ext cx="51206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</a:rPr>
              <a:t>ENUM-based status field enforces valid state transitions throughout a fine's lifecycle.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4592</Words>
  <Application>WPS Presentation</Application>
  <PresentationFormat>On-screen Show (16:9)</PresentationFormat>
  <Paragraphs>269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SimSun</vt:lpstr>
      <vt:lpstr>Wingdings</vt:lpstr>
      <vt:lpstr>Calibri</vt:lpstr>
      <vt:lpstr>Calibri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Library Fine &amp; Payment System</dc:title>
  <dc:creator>PptxGenJS</dc:creator>
  <dc:subject>PptxGenJS Presentation</dc:subject>
  <cp:lastModifiedBy>WPS_1777998704</cp:lastModifiedBy>
  <cp:revision>2</cp:revision>
  <dcterms:created xsi:type="dcterms:W3CDTF">2026-05-05T15:06:00Z</dcterms:created>
  <dcterms:modified xsi:type="dcterms:W3CDTF">2026-05-05T16:34:03Z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1033-12.1.0.25862</vt:lpwstr>
  </property>
  <property fmtid="{D5CDD505-2E9C-101B-9397-08002B2CF9AE}" pid="3" name="ICV">
    <vt:lpwstr>9E700B2AE1DF4F408F8C71CB3D483B3B_12</vt:lpwstr>
  </property>
</Properties>
</file>